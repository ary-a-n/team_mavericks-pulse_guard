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4" r:id="rId7"/>
    <p:sldId id="265" r:id="rId8"/>
    <p:sldId id="263" r:id="rId9"/>
    <p:sldId id="266" r:id="rId10"/>
    <p:sldId id="267" r:id="rId11"/>
    <p:sldId id="268" r:id="rId12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8" d="100"/>
          <a:sy n="58" d="100"/>
        </p:scale>
        <p:origin x="514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600" b="0" i="0">
                <a:solidFill>
                  <a:schemeClr val="bg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50" b="0" i="0">
                <a:solidFill>
                  <a:schemeClr val="bg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2026-02-12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3900" b="0" i="0">
                <a:solidFill>
                  <a:schemeClr val="bg1"/>
                </a:solidFill>
                <a:latin typeface="Cambria"/>
                <a:cs typeface="Cambria"/>
              </a:defRPr>
            </a:lvl1pPr>
          </a:lstStyle>
          <a:p>
            <a:pPr marL="38100">
              <a:lnSpc>
                <a:spcPct val="100000"/>
              </a:lnSpc>
              <a:spcBef>
                <a:spcPts val="430"/>
              </a:spcBef>
            </a:pPr>
            <a:fld id="{81D60167-4931-47E6-BA6A-407CBD079E47}" type="slidenum">
              <a:rPr spc="-355" dirty="0"/>
              <a:t>‹#›</a:t>
            </a:fld>
            <a:endParaRPr spc="-35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7998" cy="10286999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2727" y="530206"/>
            <a:ext cx="4105274" cy="1000124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449392" y="341556"/>
            <a:ext cx="1374228" cy="1374228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600" b="0" i="0">
                <a:solidFill>
                  <a:schemeClr val="bg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050" b="0" i="0">
                <a:solidFill>
                  <a:schemeClr val="bg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2026-02-12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3900" b="0" i="0">
                <a:solidFill>
                  <a:schemeClr val="bg1"/>
                </a:solidFill>
                <a:latin typeface="Cambria"/>
                <a:cs typeface="Cambria"/>
              </a:defRPr>
            </a:lvl1pPr>
          </a:lstStyle>
          <a:p>
            <a:pPr marL="38100">
              <a:lnSpc>
                <a:spcPct val="100000"/>
              </a:lnSpc>
              <a:spcBef>
                <a:spcPts val="430"/>
              </a:spcBef>
            </a:pPr>
            <a:fld id="{81D60167-4931-47E6-BA6A-407CBD079E47}" type="slidenum">
              <a:rPr spc="-355" dirty="0"/>
              <a:t>‹#›</a:t>
            </a:fld>
            <a:endParaRPr spc="-35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600" b="0" i="0">
                <a:solidFill>
                  <a:schemeClr val="bg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2026-02-12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3900" b="0" i="0">
                <a:solidFill>
                  <a:schemeClr val="bg1"/>
                </a:solidFill>
                <a:latin typeface="Cambria"/>
                <a:cs typeface="Cambria"/>
              </a:defRPr>
            </a:lvl1pPr>
          </a:lstStyle>
          <a:p>
            <a:pPr marL="38100">
              <a:lnSpc>
                <a:spcPct val="100000"/>
              </a:lnSpc>
              <a:spcBef>
                <a:spcPts val="430"/>
              </a:spcBef>
            </a:pPr>
            <a:fld id="{81D60167-4931-47E6-BA6A-407CBD079E47}" type="slidenum">
              <a:rPr spc="-355" dirty="0"/>
              <a:t>‹#›</a:t>
            </a:fld>
            <a:endParaRPr spc="-35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600" b="0" i="0">
                <a:solidFill>
                  <a:schemeClr val="bg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2026-02-12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3900" b="0" i="0">
                <a:solidFill>
                  <a:schemeClr val="bg1"/>
                </a:solidFill>
                <a:latin typeface="Cambria"/>
                <a:cs typeface="Cambria"/>
              </a:defRPr>
            </a:lvl1pPr>
          </a:lstStyle>
          <a:p>
            <a:pPr marL="38100">
              <a:lnSpc>
                <a:spcPct val="100000"/>
              </a:lnSpc>
              <a:spcBef>
                <a:spcPts val="430"/>
              </a:spcBef>
            </a:pPr>
            <a:fld id="{81D60167-4931-47E6-BA6A-407CBD079E47}" type="slidenum">
              <a:rPr spc="-355" dirty="0"/>
              <a:t>‹#›</a:t>
            </a:fld>
            <a:endParaRPr spc="-35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7998" cy="10286999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2480399" y="5095682"/>
            <a:ext cx="5807710" cy="3648710"/>
          </a:xfrm>
          <a:custGeom>
            <a:avLst/>
            <a:gdLst/>
            <a:ahLst/>
            <a:cxnLst/>
            <a:rect l="l" t="t" r="r" b="b"/>
            <a:pathLst>
              <a:path w="5807709" h="3648709">
                <a:moveTo>
                  <a:pt x="5807600" y="0"/>
                </a:moveTo>
                <a:lnTo>
                  <a:pt x="5807600" y="2125871"/>
                </a:lnTo>
                <a:lnTo>
                  <a:pt x="0" y="3648238"/>
                </a:lnTo>
                <a:lnTo>
                  <a:pt x="0" y="1522367"/>
                </a:lnTo>
                <a:lnTo>
                  <a:pt x="5807600" y="0"/>
                </a:lnTo>
                <a:close/>
              </a:path>
            </a:pathLst>
          </a:custGeom>
          <a:solidFill>
            <a:srgbClr val="53535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2480342" y="6618015"/>
            <a:ext cx="5807710" cy="3669029"/>
          </a:xfrm>
          <a:custGeom>
            <a:avLst/>
            <a:gdLst/>
            <a:ahLst/>
            <a:cxnLst/>
            <a:rect l="l" t="t" r="r" b="b"/>
            <a:pathLst>
              <a:path w="5807709" h="3669029">
                <a:moveTo>
                  <a:pt x="5807657" y="1483913"/>
                </a:moveTo>
                <a:lnTo>
                  <a:pt x="5807657" y="3668983"/>
                </a:lnTo>
                <a:lnTo>
                  <a:pt x="5789285" y="3668983"/>
                </a:lnTo>
                <a:lnTo>
                  <a:pt x="0" y="2189764"/>
                </a:lnTo>
                <a:lnTo>
                  <a:pt x="0" y="0"/>
                </a:lnTo>
                <a:lnTo>
                  <a:pt x="5807657" y="1483913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12480399" y="1995382"/>
            <a:ext cx="5807710" cy="3648710"/>
          </a:xfrm>
          <a:custGeom>
            <a:avLst/>
            <a:gdLst/>
            <a:ahLst/>
            <a:cxnLst/>
            <a:rect l="l" t="t" r="r" b="b"/>
            <a:pathLst>
              <a:path w="5807709" h="3648710">
                <a:moveTo>
                  <a:pt x="5807600" y="0"/>
                </a:moveTo>
                <a:lnTo>
                  <a:pt x="5807600" y="2125871"/>
                </a:lnTo>
                <a:lnTo>
                  <a:pt x="0" y="3648238"/>
                </a:lnTo>
                <a:lnTo>
                  <a:pt x="0" y="1522367"/>
                </a:lnTo>
                <a:lnTo>
                  <a:pt x="5807600" y="0"/>
                </a:lnTo>
                <a:close/>
              </a:path>
            </a:pathLst>
          </a:custGeom>
          <a:solidFill>
            <a:srgbClr val="53535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12480342" y="3517715"/>
            <a:ext cx="5807710" cy="3674110"/>
          </a:xfrm>
          <a:custGeom>
            <a:avLst/>
            <a:gdLst/>
            <a:ahLst/>
            <a:cxnLst/>
            <a:rect l="l" t="t" r="r" b="b"/>
            <a:pathLst>
              <a:path w="5807709" h="3674109">
                <a:moveTo>
                  <a:pt x="5807657" y="1483913"/>
                </a:moveTo>
                <a:lnTo>
                  <a:pt x="5807657" y="3673678"/>
                </a:lnTo>
                <a:lnTo>
                  <a:pt x="0" y="2189764"/>
                </a:lnTo>
                <a:lnTo>
                  <a:pt x="0" y="0"/>
                </a:lnTo>
                <a:lnTo>
                  <a:pt x="5807657" y="1483913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1" name="bg object 2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2727" y="530206"/>
            <a:ext cx="4105274" cy="1000124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449392" y="341556"/>
            <a:ext cx="1374228" cy="1374228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2026-02-12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3900" b="0" i="0">
                <a:solidFill>
                  <a:schemeClr val="bg1"/>
                </a:solidFill>
                <a:latin typeface="Cambria"/>
                <a:cs typeface="Cambria"/>
              </a:defRPr>
            </a:lvl1pPr>
          </a:lstStyle>
          <a:p>
            <a:pPr marL="38100">
              <a:lnSpc>
                <a:spcPct val="100000"/>
              </a:lnSpc>
              <a:spcBef>
                <a:spcPts val="430"/>
              </a:spcBef>
            </a:pPr>
            <a:fld id="{81D60167-4931-47E6-BA6A-407CBD079E47}" type="slidenum">
              <a:rPr spc="-355" dirty="0"/>
              <a:t>‹#›</a:t>
            </a:fld>
            <a:endParaRPr spc="-35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8287998" cy="102869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39998" y="2773152"/>
            <a:ext cx="5067300" cy="727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600" b="0" i="0">
                <a:solidFill>
                  <a:schemeClr val="bg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39998" y="3571344"/>
            <a:ext cx="7671434" cy="49491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50" b="0" i="0">
                <a:solidFill>
                  <a:schemeClr val="bg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2026-02-12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438597" y="9187705"/>
            <a:ext cx="288925" cy="6877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900" b="0" i="0">
                <a:solidFill>
                  <a:schemeClr val="bg1"/>
                </a:solidFill>
                <a:latin typeface="Cambria"/>
                <a:cs typeface="Cambria"/>
              </a:defRPr>
            </a:lvl1pPr>
          </a:lstStyle>
          <a:p>
            <a:pPr marL="38100">
              <a:lnSpc>
                <a:spcPct val="100000"/>
              </a:lnSpc>
              <a:spcBef>
                <a:spcPts val="430"/>
              </a:spcBef>
            </a:pPr>
            <a:fld id="{81D60167-4931-47E6-BA6A-407CBD079E47}" type="slidenum">
              <a:rPr spc="-355" dirty="0"/>
              <a:t>‹#›</a:t>
            </a:fld>
            <a:endParaRPr spc="-35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76433" y="2019300"/>
            <a:ext cx="11767967" cy="710047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4500" u="sng" spc="80" dirty="0">
                <a:solidFill>
                  <a:srgbClr val="FFFFFF"/>
                </a:solidFill>
                <a:latin typeface="Cambria"/>
                <a:cs typeface="Cambria"/>
              </a:rPr>
              <a:t>Idea</a:t>
            </a:r>
            <a:r>
              <a:rPr sz="4500" u="sng" spc="14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4500" u="sng" spc="60" dirty="0">
                <a:solidFill>
                  <a:srgbClr val="FFFFFF"/>
                </a:solidFill>
                <a:latin typeface="Cambria"/>
                <a:cs typeface="Cambria"/>
              </a:rPr>
              <a:t>Title</a:t>
            </a:r>
            <a:r>
              <a:rPr sz="4500" spc="60" dirty="0">
                <a:solidFill>
                  <a:srgbClr val="FFFFFF"/>
                </a:solidFill>
                <a:latin typeface="Cambria"/>
                <a:cs typeface="Cambria"/>
              </a:rPr>
              <a:t>:</a:t>
            </a:r>
            <a:r>
              <a:rPr lang="en-GB" sz="4500" spc="6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lang="en-US" sz="4500" dirty="0">
                <a:solidFill>
                  <a:schemeClr val="bg1"/>
                </a:solidFill>
              </a:rPr>
              <a:t>PulseGuard: LLM-Driven Handoff Intelligence</a:t>
            </a:r>
            <a:endParaRPr sz="4500" dirty="0">
              <a:solidFill>
                <a:schemeClr val="bg1"/>
              </a:solidFill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3550"/>
              </a:spcBef>
            </a:pPr>
            <a:r>
              <a:rPr sz="4500" u="sng" spc="135" dirty="0">
                <a:solidFill>
                  <a:srgbClr val="FFFFFF"/>
                </a:solidFill>
                <a:latin typeface="Cambria"/>
                <a:cs typeface="Cambria"/>
              </a:rPr>
              <a:t>Team </a:t>
            </a:r>
            <a:r>
              <a:rPr sz="4500" u="sng" spc="90" dirty="0">
                <a:solidFill>
                  <a:srgbClr val="FFFFFF"/>
                </a:solidFill>
                <a:latin typeface="Cambria"/>
                <a:cs typeface="Cambria"/>
              </a:rPr>
              <a:t>Name</a:t>
            </a:r>
            <a:r>
              <a:rPr sz="4500" spc="90" dirty="0">
                <a:solidFill>
                  <a:srgbClr val="FFFFFF"/>
                </a:solidFill>
                <a:latin typeface="Cambria"/>
                <a:cs typeface="Cambria"/>
              </a:rPr>
              <a:t>:</a:t>
            </a:r>
            <a:r>
              <a:rPr lang="en-GB" sz="4500" spc="90" dirty="0">
                <a:solidFill>
                  <a:srgbClr val="FFFFFF"/>
                </a:solidFill>
                <a:latin typeface="Cambria"/>
                <a:cs typeface="Cambria"/>
              </a:rPr>
              <a:t> Mavericks</a:t>
            </a:r>
            <a:endParaRPr sz="4500" dirty="0">
              <a:latin typeface="Cambria"/>
              <a:cs typeface="Cambria"/>
            </a:endParaRPr>
          </a:p>
          <a:p>
            <a:pPr marL="12700" marR="5080">
              <a:lnSpc>
                <a:spcPct val="164000"/>
              </a:lnSpc>
              <a:spcBef>
                <a:spcPts val="380"/>
              </a:spcBef>
            </a:pPr>
            <a:r>
              <a:rPr sz="4500" u="sng" spc="160" dirty="0">
                <a:solidFill>
                  <a:srgbClr val="FFFFFF"/>
                </a:solidFill>
                <a:latin typeface="Cambria"/>
                <a:cs typeface="Cambria"/>
              </a:rPr>
              <a:t>College</a:t>
            </a:r>
            <a:r>
              <a:rPr sz="4500" u="sng" spc="14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4500" u="sng" spc="95" dirty="0">
                <a:solidFill>
                  <a:srgbClr val="FFFFFF"/>
                </a:solidFill>
                <a:latin typeface="Cambria"/>
                <a:cs typeface="Cambria"/>
              </a:rPr>
              <a:t>Name</a:t>
            </a:r>
            <a:r>
              <a:rPr sz="4500" spc="95" dirty="0">
                <a:solidFill>
                  <a:srgbClr val="FFFFFF"/>
                </a:solidFill>
                <a:latin typeface="Cambria"/>
                <a:cs typeface="Cambria"/>
              </a:rPr>
              <a:t>: </a:t>
            </a:r>
            <a:r>
              <a:rPr lang="en-GB" sz="4500" spc="95" dirty="0">
                <a:solidFill>
                  <a:srgbClr val="FFFFFF"/>
                </a:solidFill>
                <a:latin typeface="Cambria"/>
                <a:cs typeface="Cambria"/>
              </a:rPr>
              <a:t>Punjab Engineering College</a:t>
            </a:r>
          </a:p>
          <a:p>
            <a:pPr marL="12700" marR="5080">
              <a:lnSpc>
                <a:spcPct val="164000"/>
              </a:lnSpc>
              <a:spcBef>
                <a:spcPts val="380"/>
              </a:spcBef>
            </a:pPr>
            <a:r>
              <a:rPr sz="4500" u="sng" spc="135" dirty="0">
                <a:solidFill>
                  <a:srgbClr val="FFFFFF"/>
                </a:solidFill>
                <a:latin typeface="Cambria"/>
                <a:cs typeface="Cambria"/>
              </a:rPr>
              <a:t>Team </a:t>
            </a:r>
            <a:r>
              <a:rPr sz="4500" u="sng" spc="120" dirty="0">
                <a:solidFill>
                  <a:srgbClr val="FFFFFF"/>
                </a:solidFill>
                <a:latin typeface="Cambria"/>
                <a:cs typeface="Cambria"/>
              </a:rPr>
              <a:t>Members</a:t>
            </a:r>
            <a:r>
              <a:rPr sz="4500" spc="120" dirty="0">
                <a:solidFill>
                  <a:srgbClr val="FFFFFF"/>
                </a:solidFill>
                <a:latin typeface="Cambria"/>
                <a:cs typeface="Cambria"/>
              </a:rPr>
              <a:t>:</a:t>
            </a:r>
            <a:r>
              <a:rPr lang="en-GB" sz="4500" spc="120" dirty="0">
                <a:solidFill>
                  <a:srgbClr val="FFFFFF"/>
                </a:solidFill>
                <a:latin typeface="Cambria"/>
                <a:cs typeface="Cambria"/>
              </a:rPr>
              <a:t> Pranav Malhotra, Aryan, Ishan Gupta, Anubhav Pandey</a:t>
            </a:r>
          </a:p>
          <a:p>
            <a:pPr marL="12700" marR="5080">
              <a:lnSpc>
                <a:spcPct val="164000"/>
              </a:lnSpc>
              <a:spcBef>
                <a:spcPts val="380"/>
              </a:spcBef>
            </a:pPr>
            <a:endParaRPr sz="4500" dirty="0">
              <a:latin typeface="Cambria"/>
              <a:cs typeface="Cambri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30"/>
              </a:spcBef>
            </a:pPr>
            <a:fld id="{81D60167-4931-47E6-BA6A-407CBD079E47}" type="slidenum">
              <a:rPr spc="-355" dirty="0"/>
              <a:t>1</a:t>
            </a:fld>
            <a:endParaRPr spc="-35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30"/>
              </a:spcBef>
            </a:pPr>
            <a:fld id="{81D60167-4931-47E6-BA6A-407CBD079E47}" type="slidenum">
              <a:rPr spc="-355" dirty="0"/>
              <a:t>2</a:t>
            </a:fld>
            <a:endParaRPr spc="-355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B387857-52B1-4E04-BB9A-6D293094B426}"/>
              </a:ext>
            </a:extLst>
          </p:cNvPr>
          <p:cNvSpPr txBox="1"/>
          <p:nvPr/>
        </p:nvSpPr>
        <p:spPr>
          <a:xfrm>
            <a:off x="583058" y="2113474"/>
            <a:ext cx="1541894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Problem Statement: Nurse Shift Handoff Disaster Prevention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EBDEDD9-D742-429D-BD67-22EF1A1F4B6B}"/>
              </a:ext>
            </a:extLst>
          </p:cNvPr>
          <p:cNvSpPr txBox="1"/>
          <p:nvPr/>
        </p:nvSpPr>
        <p:spPr>
          <a:xfrm>
            <a:off x="583059" y="1682741"/>
            <a:ext cx="9144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Track: Health, Care &amp; Access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3512AAA-1F30-4F9E-A5BD-D6980B2E0B59}"/>
              </a:ext>
            </a:extLst>
          </p:cNvPr>
          <p:cNvSpPr txBox="1"/>
          <p:nvPr/>
        </p:nvSpPr>
        <p:spPr>
          <a:xfrm>
            <a:off x="589684" y="2944365"/>
            <a:ext cx="17247742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A tired night nurse forgets to mention a blood thinner during handoff. The next nurse gives a routine medication. Two hours later internal bleeding.</a:t>
            </a:r>
            <a:endParaRPr lang="en-US" sz="2800" dirty="0">
              <a:solidFill>
                <a:schemeClr val="bg1"/>
              </a:solidFill>
            </a:endParaRPr>
          </a:p>
          <a:p>
            <a:r>
              <a:rPr lang="en-US" sz="2800" dirty="0">
                <a:solidFill>
                  <a:schemeClr val="bg1"/>
                </a:solidFill>
              </a:rPr>
              <a:t>This isn’t a rare scenario. It happens because modern healthcare still relies on </a:t>
            </a:r>
            <a:r>
              <a:rPr lang="en-US" sz="2800" b="1" dirty="0">
                <a:solidFill>
                  <a:schemeClr val="bg1"/>
                </a:solidFill>
              </a:rPr>
              <a:t>spoken handoffs</a:t>
            </a:r>
            <a:r>
              <a:rPr lang="en-US" sz="2800" dirty="0">
                <a:solidFill>
                  <a:schemeClr val="bg1"/>
                </a:solidFill>
              </a:rPr>
              <a:t>, fragmented notes, and human memory at the most fatigue-prone moment of a nurse’s shift.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484D29A-7EB5-420E-AE12-0DB540C898CF}"/>
              </a:ext>
            </a:extLst>
          </p:cNvPr>
          <p:cNvSpPr txBox="1"/>
          <p:nvPr/>
        </p:nvSpPr>
        <p:spPr>
          <a:xfrm>
            <a:off x="583059" y="5090280"/>
            <a:ext cx="9144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>
                <a:solidFill>
                  <a:schemeClr val="bg1">
                    <a:lumMod val="95000"/>
                  </a:schemeClr>
                </a:solidFill>
              </a:rPr>
              <a:t>Core Issues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08EB1ED-1FDB-4BB7-9E2F-B484C40CDD9D}"/>
              </a:ext>
            </a:extLst>
          </p:cNvPr>
          <p:cNvSpPr txBox="1"/>
          <p:nvPr/>
        </p:nvSpPr>
        <p:spPr>
          <a:xfrm>
            <a:off x="1447800" y="7987376"/>
            <a:ext cx="153924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bg1">
                    <a:lumMod val="95000"/>
                  </a:schemeClr>
                </a:solidFill>
              </a:rPr>
              <a:t>The problem is NOT documentation</a:t>
            </a:r>
            <a:br>
              <a:rPr lang="en-US" sz="3600" dirty="0">
                <a:solidFill>
                  <a:schemeClr val="bg1">
                    <a:lumMod val="95000"/>
                  </a:schemeClr>
                </a:solidFill>
              </a:rPr>
            </a:br>
            <a:r>
              <a:rPr lang="en-US" sz="3600" b="1" dirty="0">
                <a:solidFill>
                  <a:schemeClr val="bg1">
                    <a:lumMod val="95000"/>
                  </a:schemeClr>
                </a:solidFill>
              </a:rPr>
              <a:t>The problem is the loss of continuous clinical memory across shifts</a:t>
            </a:r>
            <a:endParaRPr lang="en-US" sz="36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1" name="Rectangle 3">
            <a:extLst>
              <a:ext uri="{FF2B5EF4-FFF2-40B4-BE49-F238E27FC236}">
                <a16:creationId xmlns:a16="http://schemas.microsoft.com/office/drawing/2014/main" id="{5ED5504C-58F6-4871-BF6E-3B84C94DF3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5751957"/>
            <a:ext cx="9161482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 80% of serious medical errors occur during handoffs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 Spoken conversations lose critical context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 Existing templates = rigid, incomplete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 Hospitals lack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temporal understanding across shifts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bg1">
                  <a:lumMod val="95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63328" y="2232970"/>
            <a:ext cx="11761341" cy="136768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lang="en-US" sz="4400" dirty="0"/>
              <a:t>Healthcare tools capture what nurses say but never analyze what they forget to say</a:t>
            </a:r>
            <a:endParaRPr sz="4400" spc="85" dirty="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30"/>
              </a:spcBef>
            </a:pPr>
            <a:fld id="{81D60167-4931-47E6-BA6A-407CBD079E47}" type="slidenum">
              <a:rPr spc="-355" dirty="0"/>
              <a:t>3</a:t>
            </a:fld>
            <a:endParaRPr spc="-355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251298E-4F03-494B-9140-BCE3D80D0376}"/>
              </a:ext>
            </a:extLst>
          </p:cNvPr>
          <p:cNvSpPr txBox="1"/>
          <p:nvPr/>
        </p:nvSpPr>
        <p:spPr>
          <a:xfrm>
            <a:off x="2286000" y="4760821"/>
            <a:ext cx="9144000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Current Systems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chemeClr val="bg1">
                    <a:lumMod val="95000"/>
                  </a:schemeClr>
                </a:solidFill>
              </a:rPr>
              <a:t>Transcribe speech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chemeClr val="bg1">
                    <a:lumMod val="95000"/>
                  </a:schemeClr>
                </a:solidFill>
              </a:rPr>
              <a:t>Use checklists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chemeClr val="bg1">
                    <a:lumMod val="95000"/>
                  </a:schemeClr>
                </a:solidFill>
              </a:rPr>
              <a:t>Store isolated notes</a:t>
            </a:r>
          </a:p>
          <a:p>
            <a:endParaRPr lang="en-US" sz="44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2D6AAC5-87E1-479F-903B-65F47AB16A92}"/>
              </a:ext>
            </a:extLst>
          </p:cNvPr>
          <p:cNvSpPr txBox="1"/>
          <p:nvPr/>
        </p:nvSpPr>
        <p:spPr>
          <a:xfrm>
            <a:off x="10287000" y="4760821"/>
            <a:ext cx="7619999" cy="2985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What They DON’T Do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bg1">
                    <a:lumMod val="95000"/>
                  </a:schemeClr>
                </a:solidFill>
              </a:rPr>
              <a:t>Track risk evolution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bg1">
                    <a:lumMod val="95000"/>
                  </a:schemeClr>
                </a:solidFill>
              </a:rPr>
              <a:t>Detect missing information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bg1">
                    <a:lumMod val="95000"/>
                  </a:schemeClr>
                </a:solidFill>
              </a:rPr>
              <a:t>Connect multiple shifts into one patient story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414FFF1-CAE1-4E40-B641-851745286BC2}"/>
              </a:ext>
            </a:extLst>
          </p:cNvPr>
          <p:cNvCxnSpPr/>
          <p:nvPr/>
        </p:nvCxnSpPr>
        <p:spPr>
          <a:xfrm>
            <a:off x="9143999" y="4244030"/>
            <a:ext cx="0" cy="38100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23259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27522" y="1638300"/>
            <a:ext cx="5401608" cy="50590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3200" dirty="0"/>
              <a:t>Proposed Solution</a:t>
            </a:r>
            <a:endParaRPr sz="3200" spc="85" dirty="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30"/>
              </a:spcBef>
            </a:pPr>
            <a:fld id="{81D60167-4931-47E6-BA6A-407CBD079E47}" type="slidenum">
              <a:rPr spc="-355" dirty="0"/>
              <a:t>4</a:t>
            </a:fld>
            <a:endParaRPr spc="-355" dirty="0"/>
          </a:p>
        </p:txBody>
      </p:sp>
      <p:sp>
        <p:nvSpPr>
          <p:cNvPr id="8" name="object 2">
            <a:extLst>
              <a:ext uri="{FF2B5EF4-FFF2-40B4-BE49-F238E27FC236}">
                <a16:creationId xmlns:a16="http://schemas.microsoft.com/office/drawing/2014/main" id="{C1240FF0-5B63-4B8D-87F4-6477BBA962EB}"/>
              </a:ext>
            </a:extLst>
          </p:cNvPr>
          <p:cNvSpPr txBox="1">
            <a:spLocks/>
          </p:cNvSpPr>
          <p:nvPr/>
        </p:nvSpPr>
        <p:spPr>
          <a:xfrm>
            <a:off x="727522" y="2294007"/>
            <a:ext cx="12716808" cy="72135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>
            <a:lvl1pPr>
              <a:defRPr sz="4600" b="0" i="0">
                <a:solidFill>
                  <a:schemeClr val="bg1"/>
                </a:solidFill>
                <a:latin typeface="Cambria"/>
                <a:ea typeface="+mj-ea"/>
                <a:cs typeface="Cambria"/>
              </a:defRPr>
            </a:lvl1pPr>
          </a:lstStyle>
          <a:p>
            <a:pPr marL="12700">
              <a:spcBef>
                <a:spcPts val="105"/>
              </a:spcBef>
            </a:pPr>
            <a:r>
              <a:rPr lang="en-US" dirty="0"/>
              <a:t>PulseGuard: LLM-Driven Handoff Intelligence</a:t>
            </a:r>
            <a:endParaRPr lang="en-US" spc="85" dirty="0"/>
          </a:p>
        </p:txBody>
      </p:sp>
      <p:sp>
        <p:nvSpPr>
          <p:cNvPr id="9" name="object 2">
            <a:extLst>
              <a:ext uri="{FF2B5EF4-FFF2-40B4-BE49-F238E27FC236}">
                <a16:creationId xmlns:a16="http://schemas.microsoft.com/office/drawing/2014/main" id="{DE6EED79-68E6-4887-A40B-C79FF02E9635}"/>
              </a:ext>
            </a:extLst>
          </p:cNvPr>
          <p:cNvSpPr txBox="1">
            <a:spLocks/>
          </p:cNvSpPr>
          <p:nvPr/>
        </p:nvSpPr>
        <p:spPr>
          <a:xfrm>
            <a:off x="2933700" y="8764646"/>
            <a:ext cx="12420600" cy="62901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>
            <a:lvl1pPr>
              <a:defRPr sz="4600" b="0" i="0">
                <a:solidFill>
                  <a:schemeClr val="bg1"/>
                </a:solidFill>
                <a:latin typeface="Cambria"/>
                <a:ea typeface="+mj-ea"/>
                <a:cs typeface="Cambria"/>
              </a:defRPr>
            </a:lvl1pPr>
          </a:lstStyle>
          <a:p>
            <a:pPr marL="12700" algn="ctr">
              <a:spcBef>
                <a:spcPts val="105"/>
              </a:spcBef>
            </a:pPr>
            <a:r>
              <a:rPr lang="en-US" sz="40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Not a transcription tool but a Clinical Safety Brain</a:t>
            </a:r>
            <a:endParaRPr lang="en-US" sz="4000" spc="85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0" name="object 2">
            <a:extLst>
              <a:ext uri="{FF2B5EF4-FFF2-40B4-BE49-F238E27FC236}">
                <a16:creationId xmlns:a16="http://schemas.microsoft.com/office/drawing/2014/main" id="{CE23821F-A2E9-4D65-8F95-4229C17BEADA}"/>
              </a:ext>
            </a:extLst>
          </p:cNvPr>
          <p:cNvSpPr txBox="1">
            <a:spLocks/>
          </p:cNvSpPr>
          <p:nvPr/>
        </p:nvSpPr>
        <p:spPr>
          <a:xfrm>
            <a:off x="1143000" y="5398210"/>
            <a:ext cx="9525000" cy="33374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>
            <a:lvl1pPr>
              <a:defRPr sz="4600" b="0" i="0">
                <a:solidFill>
                  <a:schemeClr val="bg1"/>
                </a:solidFill>
                <a:latin typeface="Cambria"/>
                <a:ea typeface="+mj-ea"/>
                <a:cs typeface="Cambria"/>
              </a:defRPr>
            </a:lvl1pPr>
          </a:lstStyle>
          <a:p>
            <a:r>
              <a:rPr lang="en-US" sz="3600" dirty="0"/>
              <a:t>Pipeline: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600" dirty="0"/>
              <a:t>Audio → Structured Clinical Summary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600" dirty="0"/>
              <a:t>Cross-Shift Memory Graph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600" dirty="0"/>
              <a:t>Negative Reasoning Engine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600" dirty="0"/>
              <a:t>Risk Trajectory Timeline</a:t>
            </a:r>
          </a:p>
          <a:p>
            <a:endParaRPr lang="en-US" sz="3600" dirty="0"/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602A57EF-BB3A-4E85-8F6D-FE1792DC38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3783" y="3168278"/>
            <a:ext cx="16188878" cy="206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Concept: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An AI system that listens to, understands, and reasons over unstructured clinical speech.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Beyond Transcription: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It doesn't just turn speech to text; it interprets clinical intent, identifies risks, and flags inconsistencies with explainable alerts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745B0F5-360C-4B49-A43C-F98F8343274C}"/>
              </a:ext>
            </a:extLst>
          </p:cNvPr>
          <p:cNvSpPr txBox="1"/>
          <p:nvPr/>
        </p:nvSpPr>
        <p:spPr>
          <a:xfrm>
            <a:off x="10363200" y="5552504"/>
            <a:ext cx="9144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</a:rPr>
              <a:t>Key outputs: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bg1"/>
                </a:solidFill>
              </a:rPr>
              <a:t>Structured patient handoff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bg1"/>
                </a:solidFill>
              </a:rPr>
              <a:t>Explainable risk alerts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bg1"/>
                </a:solidFill>
              </a:rPr>
              <a:t>Visual risk evolution</a:t>
            </a:r>
          </a:p>
        </p:txBody>
      </p:sp>
    </p:spTree>
    <p:extLst>
      <p:ext uri="{BB962C8B-B14F-4D97-AF65-F5344CB8AC3E}">
        <p14:creationId xmlns:p14="http://schemas.microsoft.com/office/powerpoint/2010/main" val="28200423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4392" y="1638300"/>
            <a:ext cx="12183408" cy="72135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dirty="0"/>
              <a:t>Innovation #1 – Cross-Shift Memory Graph</a:t>
            </a:r>
            <a:endParaRPr spc="85" dirty="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30"/>
              </a:spcBef>
            </a:pPr>
            <a:fld id="{81D60167-4931-47E6-BA6A-407CBD079E47}" type="slidenum">
              <a:rPr spc="-355" dirty="0"/>
              <a:t>5</a:t>
            </a:fld>
            <a:endParaRPr spc="-355" dirty="0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50B9BC57-B1C4-45CC-8627-B23069E1AA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9929" y="2523678"/>
            <a:ext cx="16689148" cy="60016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Most systems treat each shift as an isolated event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32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32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Knowledge Graph: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We build a continuous patient knowledge graph that tracks medication starts/stops and symptom progression across multiple days.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32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32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3200" b="1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Example: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Detecting if an antibiotic discontinued two shifts ago is mistakenly mentioned again, preventing "zombie" prescriptions</a:t>
            </a:r>
          </a:p>
        </p:txBody>
      </p:sp>
      <p:sp>
        <p:nvSpPr>
          <p:cNvPr id="11" name="Rectangle 4">
            <a:extLst>
              <a:ext uri="{FF2B5EF4-FFF2-40B4-BE49-F238E27FC236}">
                <a16:creationId xmlns:a16="http://schemas.microsoft.com/office/drawing/2014/main" id="{AE0BA359-4C13-431A-AB82-D3CE73149D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5537974"/>
            <a:ext cx="5145961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Medications started/stopped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Symptoms progression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Pending tests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Vitals trends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C225A9A-BC77-4501-80FD-18428B6A6C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8303" y="3784372"/>
            <a:ext cx="4809330" cy="479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87038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4392" y="1638300"/>
            <a:ext cx="12183408" cy="142923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dirty="0"/>
              <a:t>Innovation #2 – "What Was NOT Said" Analyzer	</a:t>
            </a:r>
            <a:endParaRPr spc="85" dirty="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30"/>
              </a:spcBef>
            </a:pPr>
            <a:fld id="{81D60167-4931-47E6-BA6A-407CBD079E47}" type="slidenum">
              <a:rPr spc="-355" dirty="0"/>
              <a:t>6</a:t>
            </a:fld>
            <a:endParaRPr spc="-355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492BB1FC-EA19-47B1-B5E3-BBB329738C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7766" y="3067537"/>
            <a:ext cx="16866086" cy="5078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Negative Reasoning: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This is our most unique feature. The LLM analyzes the </a:t>
            </a:r>
            <a:r>
              <a:rPr kumimoji="0" lang="en-US" altLang="en-US" sz="3600" b="0" i="1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absence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of critical information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Contextual Awareness: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For a high-risk diabetic patient, if the nurse never mentions glucose levels, the system outputs: </a:t>
            </a:r>
            <a:r>
              <a:rPr kumimoji="0" lang="en-US" altLang="en-US" sz="3600" b="0" i="1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"Potential Omission: Glucose monitoring not discussed"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Safety Audit: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It ensures that standard protocols for specific conditions are actually verbally verified</a:t>
            </a:r>
          </a:p>
        </p:txBody>
      </p:sp>
    </p:spTree>
    <p:extLst>
      <p:ext uri="{BB962C8B-B14F-4D97-AF65-F5344CB8AC3E}">
        <p14:creationId xmlns:p14="http://schemas.microsoft.com/office/powerpoint/2010/main" val="17761130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4392" y="1638300"/>
            <a:ext cx="12183408" cy="72135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dirty="0"/>
              <a:t>Innovation #3 – Risk Trajectory Timeline</a:t>
            </a:r>
            <a:endParaRPr spc="85" dirty="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30"/>
              </a:spcBef>
            </a:pPr>
            <a:fld id="{81D60167-4931-47E6-BA6A-407CBD079E47}" type="slidenum">
              <a:rPr spc="-355" dirty="0"/>
              <a:t>7</a:t>
            </a:fld>
            <a:endParaRPr spc="-355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BECB1F1F-BCEB-4CD2-9D2E-8B99C42B68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3086100"/>
            <a:ext cx="15274478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Visual Patient Risk Curve: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Moving beyond static alerts to a predictive timeline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Pattern Recognition: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The model predicts risk evolution by correlating oxygen drops, medication delays, and vitals across the last 3–5 shifts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This demonstrates advanced temporal reasoning,</a:t>
            </a:r>
            <a:r>
              <a:rPr kumimoji="0" lang="en-US" altLang="en-US" sz="3600" b="0" i="0" u="none" strike="noStrike" cap="none" normalizeH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predicting </a:t>
            </a:r>
            <a:r>
              <a:rPr kumimoji="0" lang="en-US" altLang="en-US" sz="3600" b="0" i="1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how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a patient is trending, not just </a:t>
            </a:r>
            <a:r>
              <a:rPr kumimoji="0" lang="en-US" altLang="en-US" sz="3600" b="0" i="1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what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they are right now.</a:t>
            </a:r>
          </a:p>
        </p:txBody>
      </p:sp>
    </p:spTree>
    <p:extLst>
      <p:ext uri="{BB962C8B-B14F-4D97-AF65-F5344CB8AC3E}">
        <p14:creationId xmlns:p14="http://schemas.microsoft.com/office/powerpoint/2010/main" val="21422012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4392" y="1638300"/>
            <a:ext cx="5401608" cy="72135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dirty="0"/>
              <a:t>Technical Approach</a:t>
            </a:r>
            <a:endParaRPr spc="85" dirty="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30"/>
              </a:spcBef>
            </a:pPr>
            <a:fld id="{81D60167-4931-47E6-BA6A-407CBD079E47}" type="slidenum">
              <a:rPr spc="-355" dirty="0"/>
              <a:t>8</a:t>
            </a:fld>
            <a:endParaRPr spc="-355" dirty="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914400" y="3086083"/>
            <a:ext cx="7671434" cy="5375189"/>
          </a:xfrm>
          <a:prstGeom prst="rect">
            <a:avLst/>
          </a:prstGeom>
        </p:spPr>
        <p:txBody>
          <a:bodyPr vert="horz" wrap="square" lIns="0" tIns="194945" rIns="0" bIns="0" rtlCol="0">
            <a:spAutoFit/>
          </a:bodyPr>
          <a:lstStyle/>
          <a:p>
            <a:r>
              <a:rPr lang="en-US" sz="3600" b="1" dirty="0"/>
              <a:t>Layered Architecture:</a:t>
            </a:r>
            <a:endParaRPr lang="en-US" sz="3600" dirty="0"/>
          </a:p>
          <a:p>
            <a:r>
              <a:rPr lang="en-US" sz="3600" dirty="0"/>
              <a:t>Speech-to-text (Whisper / Azure Speech)</a:t>
            </a:r>
          </a:p>
          <a:p>
            <a:endParaRPr lang="en-US" sz="3600" dirty="0"/>
          </a:p>
          <a:p>
            <a:r>
              <a:rPr lang="en-US" sz="3600" dirty="0"/>
              <a:t>LLM Reasoning: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Entity extraction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Temporal reasoning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Negative reasoning prompts</a:t>
            </a:r>
          </a:p>
          <a:p>
            <a:pPr marL="1006475">
              <a:lnSpc>
                <a:spcPct val="100000"/>
              </a:lnSpc>
              <a:spcBef>
                <a:spcPts val="1535"/>
              </a:spcBef>
              <a:tabLst>
                <a:tab pos="1337310" algn="l"/>
              </a:tabLst>
            </a:pPr>
            <a:endParaRPr sz="3600" spc="4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60B6A56-27D3-425D-900C-EC2AF9C297A0}"/>
              </a:ext>
            </a:extLst>
          </p:cNvPr>
          <p:cNvSpPr txBox="1"/>
          <p:nvPr/>
        </p:nvSpPr>
        <p:spPr>
          <a:xfrm>
            <a:off x="8915400" y="3619500"/>
            <a:ext cx="91440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</a:rPr>
              <a:t>Memory Layer:</a:t>
            </a:r>
          </a:p>
          <a:p>
            <a:r>
              <a:rPr lang="en-US" sz="3600" dirty="0">
                <a:solidFill>
                  <a:schemeClr val="bg1"/>
                </a:solidFill>
              </a:rPr>
              <a:t>Vector DB / Graph DB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3600" dirty="0">
              <a:solidFill>
                <a:schemeClr val="bg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sz="3600" dirty="0">
              <a:solidFill>
                <a:schemeClr val="bg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sz="3600" dirty="0">
              <a:solidFill>
                <a:schemeClr val="bg1"/>
              </a:solidFill>
            </a:endParaRPr>
          </a:p>
          <a:p>
            <a:r>
              <a:rPr lang="en-US" sz="3600" dirty="0">
                <a:solidFill>
                  <a:schemeClr val="bg1"/>
                </a:solidFill>
              </a:rPr>
              <a:t>Risk Engine:</a:t>
            </a:r>
          </a:p>
          <a:p>
            <a:r>
              <a:rPr lang="en-US" sz="3600" dirty="0">
                <a:solidFill>
                  <a:schemeClr val="bg1"/>
                </a:solidFill>
              </a:rPr>
              <a:t>Clinical rules + LLM explanation</a:t>
            </a:r>
          </a:p>
        </p:txBody>
      </p:sp>
    </p:spTree>
    <p:extLst>
      <p:ext uri="{BB962C8B-B14F-4D97-AF65-F5344CB8AC3E}">
        <p14:creationId xmlns:p14="http://schemas.microsoft.com/office/powerpoint/2010/main" val="14860595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4392" y="1638300"/>
            <a:ext cx="12183408" cy="72135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dirty="0"/>
              <a:t>User Experience – From Speech to Action</a:t>
            </a:r>
            <a:endParaRPr spc="85" dirty="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30"/>
              </a:spcBef>
            </a:pPr>
            <a:fld id="{81D60167-4931-47E6-BA6A-407CBD079E47}" type="slidenum">
              <a:rPr spc="-355" dirty="0"/>
              <a:t>9</a:t>
            </a:fld>
            <a:endParaRPr spc="-355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BECB1F1F-BCEB-4CD2-9D2E-8B99C42B68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5025092"/>
            <a:ext cx="15274478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874B4AF3-EFF9-465B-B8C0-2244B9C172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991" y="2855267"/>
            <a:ext cx="16588409" cy="5632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Input: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Natural nurse speech (e.g., "Mr. Sharma, Bed 4A... gave Warfarin at 4 AM...")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Output: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A structured dashboard showing:</a:t>
            </a:r>
          </a:p>
          <a:p>
            <a:pPr marL="571500" marR="0" lvl="0" indent="-5715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600" i="0" u="sng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Action Items</a:t>
            </a: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(e.g., Check INR before next dose).</a:t>
            </a:r>
          </a:p>
          <a:p>
            <a:pPr marL="571500" marR="0" lvl="0" indent="-5715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600" i="0" u="sng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High-Risk Flags</a:t>
            </a: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(e.g., "Blood pressure dropping + anticoagulant = possible internal bleed")</a:t>
            </a:r>
          </a:p>
          <a:p>
            <a:pPr marL="571500" marR="0" lvl="0" indent="-5715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Clarity: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The incoming nurse sees the "Risk Flag" immediately, ensuring nothing is missed during the rush of a shift change.</a:t>
            </a:r>
          </a:p>
        </p:txBody>
      </p:sp>
    </p:spTree>
    <p:extLst>
      <p:ext uri="{BB962C8B-B14F-4D97-AF65-F5344CB8AC3E}">
        <p14:creationId xmlns:p14="http://schemas.microsoft.com/office/powerpoint/2010/main" val="14033164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08991" y="1579918"/>
            <a:ext cx="12183408" cy="72135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dirty="0"/>
              <a:t>Expected Impact</a:t>
            </a:r>
            <a:endParaRPr spc="85" dirty="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420066" y="9182100"/>
            <a:ext cx="2475534" cy="655308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30"/>
              </a:spcBef>
            </a:pPr>
            <a:r>
              <a:rPr lang="en-GB" spc="-355" dirty="0"/>
              <a:t>10</a:t>
            </a:r>
            <a:endParaRPr spc="-355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BECB1F1F-BCEB-4CD2-9D2E-8B99C42B68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5025092"/>
            <a:ext cx="15274478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874B4AF3-EFF9-465B-B8C0-2244B9C172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7226" y="2552700"/>
            <a:ext cx="16588409" cy="60016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For Nurses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bg1"/>
                </a:solidFill>
              </a:rPr>
              <a:t>Less cognitive load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bg1"/>
                </a:solidFill>
              </a:rPr>
              <a:t>Structured summaries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bg1"/>
                </a:solidFill>
              </a:rPr>
              <a:t>Clear action points</a:t>
            </a:r>
          </a:p>
          <a:p>
            <a:endParaRPr lang="en-US" sz="3200" dirty="0">
              <a:solidFill>
                <a:schemeClr val="bg1"/>
              </a:solidFill>
            </a:endParaRPr>
          </a:p>
          <a:p>
            <a:r>
              <a:rPr lang="en-US" sz="3200" b="1" dirty="0">
                <a:solidFill>
                  <a:schemeClr val="bg1"/>
                </a:solidFill>
              </a:rPr>
              <a:t>For Hospitals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bg1"/>
                </a:solidFill>
              </a:rPr>
              <a:t>Compliance-ready documentation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bg1"/>
                </a:solidFill>
              </a:rPr>
              <a:t>Reduced liability</a:t>
            </a:r>
          </a:p>
          <a:p>
            <a:endParaRPr lang="en-US" sz="3200" dirty="0">
              <a:solidFill>
                <a:schemeClr val="bg1"/>
              </a:solidFill>
            </a:endParaRPr>
          </a:p>
          <a:p>
            <a:r>
              <a:rPr lang="en-US" sz="3200" b="1" dirty="0">
                <a:solidFill>
                  <a:schemeClr val="bg1"/>
                </a:solidFill>
              </a:rPr>
              <a:t>For Patients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bg1"/>
                </a:solidFill>
              </a:rPr>
              <a:t>Prevent medication interactions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bg1"/>
                </a:solidFill>
              </a:rPr>
              <a:t>Early detection of hidden risks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6B2E697-CD18-477E-A250-56D170F8080B}"/>
              </a:ext>
            </a:extLst>
          </p:cNvPr>
          <p:cNvSpPr txBox="1"/>
          <p:nvPr/>
        </p:nvSpPr>
        <p:spPr>
          <a:xfrm>
            <a:off x="8839200" y="4260859"/>
            <a:ext cx="91440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400" dirty="0">
                <a:solidFill>
                  <a:schemeClr val="bg1"/>
                </a:solidFill>
              </a:rPr>
              <a:t>Empowering nurses with AI to ensure information survives the handoff intact</a:t>
            </a:r>
          </a:p>
        </p:txBody>
      </p:sp>
    </p:spTree>
    <p:extLst>
      <p:ext uri="{BB962C8B-B14F-4D97-AF65-F5344CB8AC3E}">
        <p14:creationId xmlns:p14="http://schemas.microsoft.com/office/powerpoint/2010/main" val="14608667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420066" y="9182100"/>
            <a:ext cx="2475534" cy="655308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30"/>
              </a:spcBef>
            </a:pPr>
            <a:r>
              <a:rPr lang="en-GB" spc="-355" dirty="0"/>
              <a:t>11</a:t>
            </a:r>
            <a:endParaRPr spc="-355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BECB1F1F-BCEB-4CD2-9D2E-8B99C42B68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5025092"/>
            <a:ext cx="15274478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6B2E697-CD18-477E-A250-56D170F8080B}"/>
              </a:ext>
            </a:extLst>
          </p:cNvPr>
          <p:cNvSpPr txBox="1"/>
          <p:nvPr/>
        </p:nvSpPr>
        <p:spPr>
          <a:xfrm>
            <a:off x="7104513" y="4147928"/>
            <a:ext cx="9144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7200" dirty="0">
                <a:solidFill>
                  <a:schemeClr val="bg1"/>
                </a:solidFill>
              </a:rPr>
              <a:t>Thank You</a:t>
            </a:r>
            <a:endParaRPr lang="en-US" sz="7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33374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121</TotalTime>
  <Words>677</Words>
  <Application>Microsoft Office PowerPoint</Application>
  <PresentationFormat>Custom</PresentationFormat>
  <Paragraphs>113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Cambria</vt:lpstr>
      <vt:lpstr>Office Theme</vt:lpstr>
      <vt:lpstr>PowerPoint Presentation</vt:lpstr>
      <vt:lpstr>PowerPoint Presentation</vt:lpstr>
      <vt:lpstr>Healthcare tools capture what nurses say but never analyze what they forget to say</vt:lpstr>
      <vt:lpstr>Proposed Solution</vt:lpstr>
      <vt:lpstr>Innovation #1 – Cross-Shift Memory Graph</vt:lpstr>
      <vt:lpstr>Innovation #2 – "What Was NOT Said" Analyzer </vt:lpstr>
      <vt:lpstr>Innovation #3 – Risk Trajectory Timeline</vt:lpstr>
      <vt:lpstr>Technical Approach</vt:lpstr>
      <vt:lpstr>User Experience – From Speech to Action</vt:lpstr>
      <vt:lpstr>Expected Impact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Makeathon8_Template</dc:title>
  <dc:creator>Vatsal Gupta</dc:creator>
  <cp:keywords>DAG_uaNGd7s,BAGfcghMdE4,0</cp:keywords>
  <cp:lastModifiedBy>pranav malhotra</cp:lastModifiedBy>
  <cp:revision>14</cp:revision>
  <dcterms:created xsi:type="dcterms:W3CDTF">2026-02-11T16:41:17Z</dcterms:created>
  <dcterms:modified xsi:type="dcterms:W3CDTF">2026-02-12T08:45:46Z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2026-01-30T00:00:00Z</vt:filetime>
  </property>
  <property fmtid="{D5CDD505-2E9C-101B-9397-08002B2CF9AE}" pid="3" name="Creator">
    <vt:lpwstr>Canva</vt:lpwstr>
  </property>
  <property fmtid="{D5CDD505-2E9C-101B-9397-08002B2CF9AE}" pid="4" name="LastSaved">
    <vt:filetime>2026-02-11T00:00:00Z</vt:filetime>
  </property>
  <property fmtid="{D5CDD505-2E9C-101B-9397-08002B2CF9AE}" pid="5" name="Producer">
    <vt:lpwstr>Canva</vt:lpwstr>
  </property>
</Properties>
</file>